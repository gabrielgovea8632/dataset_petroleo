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1371600"/>
            <a:ext cx="4572000" cy="4572000"/>
          </a:xfrm>
          <a:prstGeom prst="ellipse">
            <a:avLst/>
          </a:prstGeom>
          <a:solidFill>
            <a:srgbClr val="1A4A7A">
              <a:alpha val="30000"/>
            </a:srgbClr>
          </a:solidFill>
          <a:ln w="12700">
            <a:solidFill>
              <a:srgbClr val="1A4A7A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2E86C1">
              <a:alpha val="25000"/>
            </a:srgbClr>
          </a:solidFill>
          <a:ln w="12700">
            <a:solidFill>
              <a:srgbClr val="2E86C1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280160"/>
            <a:ext cx="8412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de Registros</a:t>
            </a: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Petrofísicos con FNN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283464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2020 · Norwegian Continental Shelf · Gabriel Govea · CytiVen 2026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 / 28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3931920"/>
            <a:ext cx="3657600" cy="502920"/>
          </a:xfrm>
          <a:prstGeom prst="rect">
            <a:avLst>
              <a:gd name="adj" fmla="val 9091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9319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Midterm Project · IA en Ingeniería Energética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/ Contenido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1. Problema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1417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faltan registros y qué impacto tiene?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74320" y="21945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19456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2. Dataset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" y="26517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2020 · 98 pozos · Mar del Norte Noruego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342900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42900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20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3. Pipeline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11480" y="38862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datos y preprocesamiento (7 pasos)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96012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0600" y="96012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4. La FNN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141732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entrenamiento y configuración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800600" y="219456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219456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286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5. Resultados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37760" y="265176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reales · Métricas · Depth-Track plots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429000"/>
            <a:ext cx="420624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00600" y="342900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5204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6. Conclusiones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3886200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0.80 · Comparación modelos · CV 5-Fold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2137">
              <a:alpha val="45000"/>
            </a:srgbClr>
          </a:solidFill>
          <a:ln w="12700">
            <a:solidFill>
              <a:srgbClr val="0D21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🔍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Petrofísico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3 / 28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son los Registros de Pozos?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4 / 28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365760" y="8686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registros petrofísicos son mediciones continuas tomadas a lo largo de la profundidad de un pozo para caracterizar el yacimiento.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41732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417320"/>
            <a:ext cx="274320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4538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— Gamma Ray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180136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radiactividad natural. Indica contenido de arcilla vs arena.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0" y="141732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1417320"/>
            <a:ext cx="2743200" cy="3474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91840" y="14538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RDEP — Resistividad Profunda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180136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la presencia de hidrocarburos vs agua salada.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26480" y="141732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26480" y="1417320"/>
            <a:ext cx="2743200" cy="3474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145389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RMED — Resistividad Media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217920" y="180136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Complemento de RDEP para zona invadida.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" y="29260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2926080"/>
            <a:ext cx="274320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96265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DTC — Lentitud Sónica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65760" y="33101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Velocidad de ondas P. Indica porosidad y litología.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200400" y="29260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00400" y="2926080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291840" y="296265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RHOB — Densidad Bulk 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291840" y="33101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porosidad total. Objetivo a predecir.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926080"/>
            <a:ext cx="274320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26480" y="2926080"/>
            <a:ext cx="2743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0" y="2962656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NPHI — Porosidad Neutrónica ★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17920" y="3310128"/>
            <a:ext cx="2606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hidrógeno (fluidos). Objetivo a predecir.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Registros Faltantes en la Industria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5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0058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1005840"/>
            <a:ext cx="4160520" cy="4114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1042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Falla de Herramienta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4048" y="148132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sondas de densidad y porosidad son costosas y pueden fallar durante el registro.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09160" y="10058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005840"/>
            <a:ext cx="4160520" cy="4114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0424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Costo Operativo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18888" y="148132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siempre se corre la suite completa por restricciones de presupuesto.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8346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834640"/>
            <a:ext cx="4160520" cy="4114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8712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Decisiones Operativas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84048" y="331012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Condiciones del pozo o tiempo limitado impiden completar las mediciones.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416052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834640"/>
            <a:ext cx="4160520" cy="4114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18888" y="287121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Impacto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18888" y="331012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RHOB y NPHI: imposible calcular porosidad, saturación y volumen de roca.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2137">
              <a:alpha val="45000"/>
            </a:srgbClr>
          </a:solidFill>
          <a:ln w="12700">
            <a:solidFill>
              <a:srgbClr val="0D21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📊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Dataset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2020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6 / 28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FORCE 2020 — Norwegian Continental Shelf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7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192024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27432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Pozos de entrenamiento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423160" y="960120"/>
            <a:ext cx="1920240" cy="10058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42316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2316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registro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0" y="960120"/>
            <a:ext cx="1920240" cy="10058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NCS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7200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del Norte Noruego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720840" y="960120"/>
            <a:ext cx="192024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100584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CC-BY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720840" y="155448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Licencia abierta (NLOD 2.0)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21945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este dataset?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Datos reales de pozos petroleros del Norte de Europa — alta relevancia industrial.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65760" y="30175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Incluye exactamente los registros de entrada (GR, RDEP, RMED, DTC) y objetivo (RHOB, NPHI) del proyecto.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42900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Presencia real de valores NaN — ideal para practicar imputación y preprocesamiento.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Disponible públicamente (Zenodo DOI: 10.5281/zenodo.4351156) — reproducible.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65760" y="425196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Usado en una competencia internacional de ML — resultados comparables con la literatura.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Exploración de Datos — Distribuciones Univariadas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8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160520"/>
            <a:ext cx="8595360" cy="65836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4233672"/>
            <a:ext cx="8375904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2 del notebook — EDA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axs = plt.subplots(1, len(INPUT_COLS + TARGET_COLS), figsize=(18, 4))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i, col in enumerate(INPUT_COLS + TARGET_COLS):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axs[i].hist(df[col].dropna(), bins=40, edgecolor='k')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axs[i].set_title(col)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Valores Faltantes por Pozo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9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2004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133088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pozos con más del 30% de NaN en RHOB o NPHI son eliminados (zona roja). Esto garantiza calidad de entrenamiento.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4526280"/>
            <a:ext cx="8595360" cy="56692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4599432"/>
            <a:ext cx="8375904" cy="4206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2 — Filtrado de pozos (líneas ~60-75 del notebook)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well_missing_frac = df.groupby(WELL_COL)[TARGET_COLS].apply(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lambda x: x.isnull().mean().max())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valid_wells = well_missing_frac[well_missing_frac &lt;= 0.30].index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df[df[WELL_COL].isin(valid_wells)]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2137">
              <a:alpha val="45000"/>
            </a:srgbClr>
          </a:solidFill>
          <a:ln w="12700">
            <a:solidFill>
              <a:srgbClr val="0D21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⚙️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Preprocesamiento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10 / 28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Completo — 7 Pasos de Preprocesamiento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11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1005840"/>
            <a:ext cx="114300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" y="1005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56032" y="13258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56032" y="2011680"/>
            <a:ext cx="1143000" cy="685800"/>
          </a:xfrm>
          <a:prstGeom prst="rect">
            <a:avLst/>
          </a:prstGeom>
          <a:solidFill>
            <a:srgbClr val="D6EA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2029968"/>
            <a:ext cx="106984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pozos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2020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399032" y="1490472"/>
            <a:ext cx="10058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99616" y="1005840"/>
            <a:ext cx="1143000" cy="9601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499616" y="1005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99616" y="13258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pozos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499616" y="2011680"/>
            <a:ext cx="1143000" cy="685800"/>
          </a:xfrm>
          <a:prstGeom prst="rect">
            <a:avLst/>
          </a:prstGeom>
          <a:solidFill>
            <a:srgbClr val="D6EA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36192" y="2029968"/>
            <a:ext cx="106984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&gt;30% NaN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42616" y="1490472"/>
            <a:ext cx="10058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0" y="1005840"/>
            <a:ext cx="1143000" cy="9601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2743200" y="1005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743200" y="13258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Log10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43200" y="2011680"/>
            <a:ext cx="1143000" cy="685800"/>
          </a:xfrm>
          <a:prstGeom prst="rect">
            <a:avLst/>
          </a:prstGeom>
          <a:solidFill>
            <a:srgbClr val="D6EA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779776" y="2029968"/>
            <a:ext cx="106984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RDEP, RMED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skew fix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886200" y="1490472"/>
            <a:ext cx="10058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986784" y="1005840"/>
            <a:ext cx="1143000" cy="96012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3986784" y="1005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986784" y="13258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|z|&lt;3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986784" y="2011680"/>
            <a:ext cx="1143000" cy="685800"/>
          </a:xfrm>
          <a:prstGeom prst="rect">
            <a:avLst/>
          </a:prstGeom>
          <a:solidFill>
            <a:srgbClr val="D6EA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2029968"/>
            <a:ext cx="106984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eliminados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129784" y="1490472"/>
            <a:ext cx="10058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230368" y="1005840"/>
            <a:ext cx="1143000" cy="96012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230368" y="1005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5230368" y="13258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230368" y="2011680"/>
            <a:ext cx="1143000" cy="685800"/>
          </a:xfrm>
          <a:prstGeom prst="rect">
            <a:avLst/>
          </a:prstGeom>
          <a:solidFill>
            <a:srgbClr val="D6EA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66944" y="2029968"/>
            <a:ext cx="106984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k=5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NaN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373368" y="1490472"/>
            <a:ext cx="10058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73952" y="1005840"/>
            <a:ext cx="1143000" cy="96012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6473952" y="1005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473952" y="13258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73952" y="2011680"/>
            <a:ext cx="1143000" cy="685800"/>
          </a:xfrm>
          <a:prstGeom prst="rect">
            <a:avLst/>
          </a:prstGeom>
          <a:solidFill>
            <a:srgbClr val="D6EA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10528" y="2029968"/>
            <a:ext cx="106984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µ=0, σ=1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input+output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7616952" y="1490472"/>
            <a:ext cx="100584" cy="0"/>
          </a:xfrm>
          <a:prstGeom prst="line">
            <a:avLst/>
          </a:prstGeom>
          <a:noFill/>
          <a:ln w="25400">
            <a:solidFill>
              <a:srgbClr val="E67E22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717536" y="1005840"/>
            <a:ext cx="1143000" cy="96012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7717536" y="1005840"/>
            <a:ext cx="1143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7717536" y="1325880"/>
            <a:ext cx="1143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Train/Test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80/20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717536" y="2011680"/>
            <a:ext cx="1143000" cy="685800"/>
          </a:xfrm>
          <a:prstGeom prst="rect">
            <a:avLst/>
          </a:prstGeom>
          <a:solidFill>
            <a:srgbClr val="D6EAF8"/>
          </a:solidFill>
          <a:ln w="6350">
            <a:solidFill>
              <a:srgbClr val="BBBBBB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54112" y="2029968"/>
            <a:ext cx="1069848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SEED=2026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274320" y="283464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</a:rPr>
              <a:t>Fragmentos clave del notebook: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274320" y="3154680"/>
            <a:ext cx="4297680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384048" y="3227832"/>
            <a:ext cx="407822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3 — Transformación Log10 (líneas ~95-105)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col in ['RDEP', 'RMED']: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df[col] = np.log10(df[col].clip(lower=1e-4))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df.rename(columns={col: f'LOG10_{col}'}, inplace=True)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663440" y="3154680"/>
            <a:ext cx="4206240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3" name="Text 51"/>
          <p:cNvSpPr/>
          <p:nvPr/>
        </p:nvSpPr>
        <p:spPr>
          <a:xfrm>
            <a:off x="4773168" y="3227832"/>
            <a:ext cx="398678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5 — KNN Imputation (líneas ~130-135)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sklearn.impute import KNNImputer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imputer = KNNImputer(n_neighbors=5)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df_model[INPUT_COLS] = imputer.fit_transform(df_model[INPUT_COLS])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274320" y="3886200"/>
            <a:ext cx="4297680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384048" y="3959352"/>
            <a:ext cx="407822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6 — StandardScaler (líneas ~150-160)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x_scaler =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X_train_s = x_scaler.fit_transform(X_train)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y_scaler  = StandardScaler()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y_train_s = y_scaler.fit_transform(y_train)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4663440" y="3886200"/>
            <a:ext cx="4206240" cy="6858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7" name="Text 55"/>
          <p:cNvSpPr/>
          <p:nvPr/>
        </p:nvSpPr>
        <p:spPr>
          <a:xfrm>
            <a:off x="4773168" y="3959352"/>
            <a:ext cx="3986784" cy="539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Paso 7 — Train/Test Split 80/20 (líneas ~145-148)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X_train, X_test, y_train, y_test = train_test_split(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X, y, test_size=0.20, random_state=2026)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Correlación — Features vs Targets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12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5029200" cy="3794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5486400" y="868680"/>
            <a:ext cx="3429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486400" y="868680"/>
            <a:ext cx="73152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650992" y="9418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 ↔ NPHI: +0.62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50992" y="121615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correlación positiva. El Gamma Ray es el mejor predictor individual de la porosidad neutrónica.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486400" y="2057400"/>
            <a:ext cx="3429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486400" y="2057400"/>
            <a:ext cx="73152" cy="109728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650992" y="2130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RDEP ↔ RHOB: −0.52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5650992" y="240487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negativa moderada. A mayor resistividad (menos agua), mayor densidad.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486400" y="3246120"/>
            <a:ext cx="34290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486400" y="3246120"/>
            <a:ext cx="73152" cy="10972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650992" y="33192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RHOB ↔ NPHI: −0.62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650992" y="3593592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negativa entre los targets — cross-plot clásico petrofísico densidad-neutrón.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84048" y="4754880"/>
            <a:ext cx="8375904" cy="2194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2 — Correlación (líneas ~115-125)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corr = sample.corr()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sns.heatmap(corr, annot=True, cmap='bwr', vmin=-1, vmax=1)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Ranking — Información Mutua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13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108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041648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Información Mutua mide la dependencia estadística entre cada feature y el target, sin asumir linealidad. LOG10_RDEP es el mejor predictor de RHOB, mientras que GR domina para NPHI.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4526280"/>
            <a:ext cx="8595360" cy="54864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4599432"/>
            <a:ext cx="8375904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2 — Mutual Information (líneas ~128-145)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sklearn.feature_selection import mutual_info_regression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 = mutual_info_regression(X_rank, y_rank, random_state=2026)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axs[idx].bar(INPUT_COLS, mi)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2137">
              <a:alpha val="45000"/>
            </a:srgbClr>
          </a:solidFill>
          <a:ln w="12700">
            <a:solidFill>
              <a:srgbClr val="0D21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🧠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Red Neuronal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Feedforward (FNN)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14 / 28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la Red Neuronal Feedforward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15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749808" y="1499616"/>
            <a:ext cx="329184" cy="29260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9808" y="1938528"/>
            <a:ext cx="329184" cy="29260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49808" y="2377440"/>
            <a:ext cx="329184" cy="29260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2816352"/>
            <a:ext cx="329184" cy="292608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749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nodos)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578608" y="1097280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78608" y="1524000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78608" y="1950720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78608" y="2377440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578608" y="2804160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78608" y="3230880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77440" y="3749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1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· ReLU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504688" y="1280160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04688" y="1719072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04688" y="2157984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504688" y="2596896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504688" y="3035808"/>
            <a:ext cx="329184" cy="292608"/>
          </a:xfrm>
          <a:prstGeom prst="ellipse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3749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Oculta 2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· ReLU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65008" y="1938528"/>
            <a:ext cx="329184" cy="29260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65008" y="2377440"/>
            <a:ext cx="329184" cy="292608"/>
          </a:xfrm>
          <a:prstGeom prst="ellipse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63840" y="3749040"/>
            <a:ext cx="731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 nodos)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023360" y="1371600"/>
            <a:ext cx="548640" cy="164592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4041648" y="1737360"/>
            <a:ext cx="512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6949440" y="1371600"/>
            <a:ext cx="548640" cy="1645920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6967728" y="1737360"/>
            <a:ext cx="51206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74320" y="4343400"/>
            <a:ext cx="8595360" cy="41148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3434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Input(4)  →  Dense(64, ReLU)  →  Dropout(0.2)  →  Dense(32, ReLU)  →  Dropout(0.2)  →  Output(2, Lineal)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4773168"/>
            <a:ext cx="8595360" cy="2743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84048" y="4846320"/>
            <a:ext cx="8375904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5 — Construcción FNN (líneas ~185-205)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 = keras.Sequential([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layers.Input(shape=(4,)),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layers.Dense(64, activation='relu'),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layers.Dropout(0.2),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layers.Dense(32, activation='relu'),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layers.Dropout(0.2),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layers.Dense(2, activation='linear'),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model.compile(optimizer='adam', loss='mse', metrics=['mae'])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del Entrenamiento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16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4160520" cy="3200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78408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Función de Pérdida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13075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MSE (Mean Squared Error)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65760" y="15636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errores grandes; estándar en regresión continua.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960120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709160" y="960120"/>
            <a:ext cx="4160520" cy="3200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978408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Optimizador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307592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Adam · lr = 0.001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800600" y="1563624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Convergencia rápida. Adapta learning rate por parámetro.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74320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221992"/>
            <a:ext cx="4160520" cy="3200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240280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Épocas máximas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25694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200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8254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Early Stopping automático para corte óptimo.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09160" y="2221992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2221992"/>
            <a:ext cx="4160520" cy="3200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0600" y="2240280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2569464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64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800600" y="2825496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velocidad vs estabilidad del gradiente.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4320" y="348386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3483864"/>
            <a:ext cx="416052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502152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8313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patience=20, restore best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40873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Detiene entrenamiento si val_loss no mejora en 20 épocas.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709160" y="3483864"/>
            <a:ext cx="416052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3483864"/>
            <a:ext cx="416052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800600" y="3502152"/>
            <a:ext cx="397764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ReduceLROnPlateau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00600" y="3831336"/>
            <a:ext cx="3977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 factor=0.5, patience=10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800600" y="4087368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learning rate a la mitad si hay estancamiento.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74320" y="4681728"/>
            <a:ext cx="8595360" cy="38404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384048" y="4754880"/>
            <a:ext cx="8375904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5 — Callbacks + entrenamiento (líneas ~210-230)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early_stop = callbacks.EarlyStopping(monitor='val_loss', patience=20, restore_best_weights=True)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reduce_lr  = callbacks.ReduceLROnPlateau(factor=0.5, patience=10, min_lr=1e-6)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history = fnn.fit(X_train_s, y_train_s, validation_split=0.15, epochs=200, batch_size=64,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callbacks=[early_stop, reduce_lr])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2137">
              <a:alpha val="45000"/>
            </a:srgbClr>
          </a:solidFill>
          <a:ln w="12700">
            <a:solidFill>
              <a:srgbClr val="0D21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y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Gráficas Reales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17 / 28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de Entrenamiento — Pérdida y MAE por Época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18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2918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2062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verde vertical indica la mejor época seleccionada por Early Stopping. Train y Val loss convergen sin sobreajuste evidente, gracias al Dropout.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4645152"/>
            <a:ext cx="8595360" cy="4572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4718304"/>
            <a:ext cx="8375904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5 — Curvas de entrenamiento (líneas ~240-260)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axs[0].plot(history.history['loss'],     label='Train Loss')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axs[0].plot(history.history['val_loss'], label='Val Loss')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axs[1].plot(history.history['mae'],      label='Train MAE')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axs[1].plot(history.history['val_mae'],  label='Val MAE')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Predicho vs. Real — Regresión Lineal (LR) vs FNN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19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8595360" cy="3749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617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FNN (naranja) logra puntos mucho más cercanos a la línea perfecta (roja) que la LR (azul). El R² mejora de ~0.57 a ~0.83 en RHOB y de ~0.49 a ~0.81 en NPHI.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274320" y="5029200"/>
            <a:ext cx="8595360" cy="10972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5102352"/>
            <a:ext cx="8375904" cy="-365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7 — Scatter predicho vs real (líneas ~295-320)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ax, model_name, y_pred in [('LR', y_pred_lr), ('FNN', y_pred_fnn)]: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ax.scatter(y_test[:, t], y_pred[:, t], alpha=0.3)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ax.plot(lims, lims, 'r--')  # línea perfecta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Depth-Track Plot — Curvas Predichas vs Reales en Profundidad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20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41248"/>
            <a:ext cx="7680960" cy="3794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681728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FNN (naranja) sigue fielmente las variaciones del registro real (negro), capturando picos y transiciones litológicas. La LR (azul) sobresuaviza y pierde detalle.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5074920"/>
            <a:ext cx="8595360" cy="64008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5148072"/>
            <a:ext cx="8375904" cy="-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7 — Depth-Track (líneas ~325-365)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ax.plot(y_test[idx], depth, color='black', label='Real')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ax.plot(y_pred_lr_test[idx], depth, color='steelblue', ls='--', label='LR')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ax.plot(y_pred_fnn_test[idx], depth, color='darkorange', ls='-.', label='FNN')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ax.invert_yaxis()  # profundidad crece hacia abajo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R² — Regresión Lineal vs FNN · Meta: R² &gt; 0.80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21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868680"/>
            <a:ext cx="7680960" cy="338328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343400"/>
            <a:ext cx="192024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74320" y="4389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+0.26</a:t>
            </a:r>
            <a:endParaRPr lang="en-US" sz="3000" dirty="0"/>
          </a:p>
        </p:txBody>
      </p:sp>
      <p:sp>
        <p:nvSpPr>
          <p:cNvPr id="11" name="Text 8"/>
          <p:cNvSpPr/>
          <p:nvPr/>
        </p:nvSpPr>
        <p:spPr>
          <a:xfrm>
            <a:off x="27432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R² RHOB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423160" y="4343400"/>
            <a:ext cx="192024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423160" y="4389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+0.32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242316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R² NPHI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572000" y="4343400"/>
            <a:ext cx="192024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0" y="4389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Meta</a:t>
            </a:r>
            <a:endParaRPr lang="en-US" sz="3000" dirty="0"/>
          </a:p>
        </p:txBody>
      </p:sp>
      <p:sp>
        <p:nvSpPr>
          <p:cNvPr id="17" name="Text 14"/>
          <p:cNvSpPr/>
          <p:nvPr/>
        </p:nvSpPr>
        <p:spPr>
          <a:xfrm>
            <a:off x="457200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R²&gt;0.80 RHOB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6720840" y="4343400"/>
            <a:ext cx="1920240" cy="1005840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20840" y="438912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Meta</a:t>
            </a:r>
            <a:endParaRPr lang="en-US" sz="3000" dirty="0"/>
          </a:p>
        </p:txBody>
      </p:sp>
      <p:sp>
        <p:nvSpPr>
          <p:cNvPr id="20" name="Text 17"/>
          <p:cNvSpPr/>
          <p:nvPr/>
        </p:nvSpPr>
        <p:spPr>
          <a:xfrm>
            <a:off x="6720840" y="49377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R²&gt;0.80 NPHI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5029200"/>
            <a:ext cx="8595360" cy="73152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84048" y="5102352"/>
            <a:ext cx="8375904" cy="-731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7 — Comparación R² (líneas ~375-400)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test_results = summary[summary['Split']=='Test']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bars = ax.bar(sub['Model'], sub['R2'])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ax.axhline(0.80, color='red', ls='--', label='Meta R²=0.80')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Completa de Métricas — Train y Test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22 / 28</a:t>
            </a:r>
            <a:endParaRPr lang="en-US" sz="8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914400"/>
          <a:ext cx="7315200" cy="3657600"/>
        </p:xfrm>
        <a:graphic>
          <a:graphicData uri="http://schemas.openxmlformats.org/drawingml/2006/table">
            <a:tbl>
              <a:tblPr/>
              <a:tblGrid>
                <a:gridCol w="1828800"/>
                <a:gridCol w="914400"/>
                <a:gridCol w="914400"/>
                <a:gridCol w="1280160"/>
                <a:gridCol w="1188720"/>
                <a:gridCol w="118872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RMSE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13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Reg. Lineal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~0.49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RHOB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~0.83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67E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NPHI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844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~0.81 ✓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---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274320" y="4617720"/>
            <a:ext cx="8595360" cy="50292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84048" y="4690872"/>
            <a:ext cx="8375904" cy="356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7 — Tabla de métricas (líneas ~370-405)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regression_metrics(y_true, y_pred, label=''):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r2   = r2_score(y_true,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mae  = mean_absolute_error(y_true, y_pred)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rmse = np.sqrt(mean_squared_error(y_true, y_pred))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{'R2':r2, 'MAE':mae, 'RMSE':rmse}</a:t>
            </a:r>
            <a:endParaRPr lang="en-US" sz="9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Residuales — LR vs FNN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23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8595360" cy="35661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4462272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residuales de la FNN (naranja) están más centrados en cero y tienen menor dispersión. No se observan patrones sistemáticos → el modelo captura bien la varianza.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" y="4892040"/>
            <a:ext cx="8595360" cy="228600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84048" y="4965192"/>
            <a:ext cx="8375904" cy="82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8 — Análisis de residuales (líneas ~410-445)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res_lr  = y_test[:, t] - y_pred_lr_test_orig[:, 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res_fnn = y_test[:, t] - y_pred_fnn_test[:, t]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axs[i,0].hist(res_lr,  bins=50, alpha=0.6, label='LR')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axs[i,0].hist(res_fnn, bins=50, alpha=0.6, label='FNN')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axs[i,1].scatter(y_pred_fnn_test[:,t], res_fnn)  # residual vs predicho</a:t>
            </a:r>
            <a:endParaRPr lang="en-US" sz="9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Cruzada 5-Fold — Generalización del Modelo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24 / 28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68680"/>
            <a:ext cx="8595360" cy="32461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74320" y="4178808"/>
            <a:ext cx="859536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" y="4178808"/>
            <a:ext cx="73152" cy="7772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38912" y="4251960"/>
            <a:ext cx="8366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CV 5-Fold?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38912" y="4526280"/>
            <a:ext cx="8366760" cy="338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Train/Test split puede ser afortunado. Con 5-Fold CV se entrena y evalúa en 5 particiones distintas, reportando el promedio y desviación estándar del R². Esto garantiza que el modelo generaliza realmente bien.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274320" y="5001768"/>
            <a:ext cx="8595360" cy="118872"/>
          </a:xfrm>
          <a:prstGeom prst="rect">
            <a:avLst/>
          </a:prstGeom>
          <a:solidFill>
            <a:srgbClr val="0A0F1E"/>
          </a:solidFill>
          <a:ln w="12700">
            <a:solidFill>
              <a:srgbClr val="33446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84048" y="5074920"/>
            <a:ext cx="8375904" cy="-274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Sección 6 — 5-Fold CV (líneas ~270-300)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kf = KFold(n_splits=5, shuffle=True, random_state=2026)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fold, (train_idx, val_idx) in enumerate(kf.split(X_train_s)):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model_cv = build_fnn()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model_cv.fit(X_fold_tr, y_fold_tr, epochs=100, validation_data=(X_fold_val,y_fold_val))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00FF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r2_rhob = r2_score(y_cv_true[:,0], y_cv_pred[:,0])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4A7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D2137">
              <a:alpha val="45000"/>
            </a:srgbClr>
          </a:solidFill>
          <a:ln w="12700">
            <a:solidFill>
              <a:srgbClr val="0D213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37160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✅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54480" y="155448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y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Finales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25 / 28</a:t>
            </a:r>
            <a:endParaRPr lang="en-US" sz="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 del Proyecto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26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86868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868680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923544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Meta alcanzada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429000" y="923544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FNN logró R² &gt; 0.80 en conjunto de prueba para ambos registros (RHOB: 0.83 · NPHI: 0.81), cumpliendo el objetivo del midterm.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166420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1664208"/>
            <a:ext cx="64008" cy="7132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17190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FNN supera a LR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1719072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de +0.26 (RHOB) y +0.32 (NPHI) en R² sobre la Regresión Lineal, confirmando la no-linealidad de las relaciones petrofísicas.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4597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59736"/>
            <a:ext cx="64008" cy="7132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5146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Preprocesamiento crítico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429000" y="2514600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pipeline de 7 pasos (filtrado, Log10, Z-score, KNN, StandardScaler) fue determinante para el buen desempeño del modelo.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25526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255264"/>
            <a:ext cx="64008" cy="71323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31012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Modelo estable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310128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validación cruzada 5-Fold confirma estabilidad (R² 0.82±0.03 RHOB · 0.81±0.04 NPHI). No es resultado de una sola partición.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05079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4050792"/>
            <a:ext cx="64008" cy="7132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4105656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Impacto industrial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429000" y="4105656"/>
            <a:ext cx="5394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FNN permite reconstruir registros faltantes de manera automática y precisa, reduciendo incertidumbre en la caracterización de yacimientos.</a:t>
            </a:r>
            <a:endParaRPr lang="en-US" sz="9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2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7772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0"/>
            <a:ext cx="8686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Conexión con el Contenido del Curso — CytiVen 2026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27 / 28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960120"/>
            <a:ext cx="416052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97840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 / D02 — Ingeniería de Datos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65760" y="13441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Imputation · Log10 · Z-score · StandardScaler · Feature Ranking (MI)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960120"/>
            <a:ext cx="4160520" cy="3474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978408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/ D03 — Ciencia de Datos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800600" y="134416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Train-Test Split 80/20 · Concepto de overfitting · bias-variance tradeoff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225856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258568"/>
            <a:ext cx="4160520" cy="347472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27685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/ D06 — Regresión Supervisada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642616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 como baseline · métricas R², MAE, RMSE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09160" y="2258568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2258568"/>
            <a:ext cx="4160520" cy="347472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2276856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4 / D04 — No Supervisado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800600" y="2642616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 para EDA exploratorio · comprensión de dimensionalidad en petrofísica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74320" y="3557016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557016"/>
            <a:ext cx="4160520" cy="347472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575304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 Workbook — CV + Hyperparams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941064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Cross-Validation · GridSearchCV · evaluación de generalización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3557016"/>
            <a:ext cx="416052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3557016"/>
            <a:ext cx="416052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575304"/>
            <a:ext cx="3977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Midterm — FNN Keras/TensorFlow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800600" y="3941064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propuesta + Dropout + Adam + Early Stopping → Proyecto completo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1A4A7A">
              <a:alpha val="28000"/>
            </a:srgbClr>
          </a:solidFill>
          <a:ln w="12700">
            <a:solidFill>
              <a:srgbClr val="1A4A7A">
                <a:alpha val="2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6400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Reconstrucción de RHOB y NPHI con Red Neuronal Feedforward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FORCE 2020 · Norwegian Continental Shelf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43200"/>
            <a:ext cx="196596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2743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RHOB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2743200"/>
            <a:ext cx="1965960" cy="10058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06040" y="2743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60604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NPHI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2743200"/>
            <a:ext cx="1965960" cy="1005840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2743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5488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Folds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903720" y="2743200"/>
            <a:ext cx="1965960" cy="1005840"/>
          </a:xfrm>
          <a:prstGeom prst="rect">
            <a:avLst/>
          </a:prstGeom>
          <a:solidFill>
            <a:srgbClr val="1A4A7A"/>
          </a:solidFill>
          <a:ln w="12700">
            <a:solidFill>
              <a:srgbClr val="1A4A7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903720" y="2743200"/>
            <a:ext cx="1965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 pozos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903720" y="3337560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Gabriel Govea  ·  Introducción a la IA en Ingeniería Energética  ·  CytiVen 2026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D2137"/>
          </a:solidFill>
          <a:ln w="12700">
            <a:solidFill>
              <a:srgbClr val="0D213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901184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Gabriel Govea · IA en Ingeniería Energética · CytiVen 2026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8046720" y="4901184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28 / 28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Reconstrucción de Registros Petrofísicos con FNN</dc:title>
  <dc:subject>Midterm — IA en Ingeniería Energética, CytiVen 2026</dc:subject>
  <dc:creator>Gabriel Govea</dc:creator>
  <cp:lastModifiedBy>Gabriel Govea</cp:lastModifiedBy>
  <cp:revision>1</cp:revision>
  <dcterms:created xsi:type="dcterms:W3CDTF">2026-04-11T16:46:58Z</dcterms:created>
  <dcterms:modified xsi:type="dcterms:W3CDTF">2026-04-11T16:46:58Z</dcterms:modified>
</cp:coreProperties>
</file>